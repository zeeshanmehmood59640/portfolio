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Montserrat" charset="1" panose="00000500000000000000"/>
      <p:regular r:id="rId27"/>
    </p:embeddedFont>
    <p:embeddedFont>
      <p:font typeface="Gotham Bold" charset="1" panose="00000000000000000000"/>
      <p:regular r:id="rId28"/>
    </p:embeddedFont>
    <p:embeddedFont>
      <p:font typeface="Gotham" charset="1" panose="00000000000000000000"/>
      <p:regular r:id="rId29"/>
    </p:embeddedFont>
    <p:embeddedFont>
      <p:font typeface="Montserrat Bold" charset="1" panose="00000800000000000000"/>
      <p:regular r:id="rId30"/>
    </p:embeddedFont>
    <p:embeddedFont>
      <p:font typeface="ITC Avant Garde Gothic Bold" charset="1" panose="020B0802020202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77" r="0" b="-2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8238" y="-540591"/>
            <a:ext cx="11368183" cy="11368183"/>
          </a:xfrm>
          <a:custGeom>
            <a:avLst/>
            <a:gdLst/>
            <a:ahLst/>
            <a:cxnLst/>
            <a:rect r="r" b="b" t="t" l="l"/>
            <a:pathLst>
              <a:path h="11368183" w="11368183">
                <a:moveTo>
                  <a:pt x="0" y="0"/>
                </a:moveTo>
                <a:lnTo>
                  <a:pt x="11368183" y="0"/>
                </a:lnTo>
                <a:lnTo>
                  <a:pt x="11368183" y="11368182"/>
                </a:lnTo>
                <a:lnTo>
                  <a:pt x="0" y="113681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80787" y="2764895"/>
            <a:ext cx="15793741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9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Dinosaur Image Classification Challenge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099662" y="-795794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43686" y="7571659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16654009" y="1707356"/>
            <a:ext cx="605291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760806" y="5540299"/>
            <a:ext cx="7396298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240" b="true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Deep Learning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7702" y="1617821"/>
            <a:ext cx="3047593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 THOMAS MORE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7702" y="6290433"/>
            <a:ext cx="2399127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TEAM MEMBERS: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0806" y="6831453"/>
            <a:ext cx="4618307" cy="116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3150"/>
              </a:lnSpc>
              <a:buFont typeface="Arial"/>
              <a:buChar char="•"/>
            </a:pPr>
            <a:r>
              <a:rPr lang="en-US" sz="1800" spc="179">
                <a:solidFill>
                  <a:srgbClr val="F5DEA0"/>
                </a:solidFill>
                <a:latin typeface="Gotham"/>
                <a:ea typeface="Gotham"/>
                <a:cs typeface="Gotham"/>
                <a:sym typeface="Gotham"/>
              </a:rPr>
              <a:t>Zeeshan Mehmood</a:t>
            </a:r>
          </a:p>
          <a:p>
            <a:pPr algn="l" marL="388620" indent="-194310" lvl="1">
              <a:lnSpc>
                <a:spcPts val="3150"/>
              </a:lnSpc>
              <a:buFont typeface="Arial"/>
              <a:buChar char="•"/>
            </a:pPr>
            <a:r>
              <a:rPr lang="en-US" sz="1800" spc="179">
                <a:solidFill>
                  <a:srgbClr val="F5DEA0"/>
                </a:solidFill>
                <a:latin typeface="Gotham"/>
                <a:ea typeface="Gotham"/>
                <a:cs typeface="Gotham"/>
                <a:sym typeface="Gotham"/>
              </a:rPr>
              <a:t>Muhammad Zubair</a:t>
            </a:r>
          </a:p>
          <a:p>
            <a:pPr algn="l" marL="388620" indent="-194310" lvl="1">
              <a:lnSpc>
                <a:spcPts val="3150"/>
              </a:lnSpc>
              <a:buFont typeface="Arial"/>
              <a:buChar char="•"/>
            </a:pPr>
            <a:r>
              <a:rPr lang="en-US" sz="1800" spc="179">
                <a:solidFill>
                  <a:srgbClr val="F5DEA0"/>
                </a:solidFill>
                <a:latin typeface="Gotham"/>
                <a:ea typeface="Gotham"/>
                <a:cs typeface="Gotham"/>
                <a:sym typeface="Gotham"/>
              </a:rPr>
              <a:t>Ehtisham Shafique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07104" y="-102870"/>
            <a:ext cx="8090768" cy="10864352"/>
            <a:chOff x="0" y="0"/>
            <a:chExt cx="1648024" cy="2212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8024" cy="2212980"/>
            </a:xfrm>
            <a:custGeom>
              <a:avLst/>
              <a:gdLst/>
              <a:ahLst/>
              <a:cxnLst/>
              <a:rect r="r" b="b" t="t" l="l"/>
              <a:pathLst>
                <a:path h="2212980" w="1648024">
                  <a:moveTo>
                    <a:pt x="0" y="0"/>
                  </a:moveTo>
                  <a:lnTo>
                    <a:pt x="1648024" y="0"/>
                  </a:lnTo>
                  <a:lnTo>
                    <a:pt x="1648024" y="2212980"/>
                  </a:lnTo>
                  <a:lnTo>
                    <a:pt x="0" y="2212980"/>
                  </a:lnTo>
                  <a:close/>
                </a:path>
              </a:pathLst>
            </a:custGeom>
            <a:blipFill>
              <a:blip r:embed="rId2"/>
              <a:stretch>
                <a:fillRect l="-32634" t="0" r="-3263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32223" y="709930"/>
            <a:ext cx="8011777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true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 Overview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92583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6956655" y="9210675"/>
            <a:ext cx="605291" cy="0"/>
          </a:xfrm>
          <a:prstGeom prst="line">
            <a:avLst/>
          </a:prstGeom>
          <a:ln cap="flat" w="95250">
            <a:solidFill>
              <a:srgbClr val="74E8A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132223" y="2182643"/>
            <a:ext cx="8647139" cy="664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Classify images into 7 dinosaur species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 Development using TensorFlow/Keras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Exploratory Data Analysis (EDA)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Augmentation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 CNN Model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Transfer Learning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Training Visualization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Fine Tune Models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Kaggel Submission</a:t>
            </a:r>
          </a:p>
          <a:p>
            <a:pPr algn="l">
              <a:lnSpc>
                <a:spcPts val="48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24703" y="1484683"/>
            <a:ext cx="5573986" cy="5461035"/>
            <a:chOff x="0" y="0"/>
            <a:chExt cx="1468046" cy="14382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8046" cy="1438297"/>
            </a:xfrm>
            <a:custGeom>
              <a:avLst/>
              <a:gdLst/>
              <a:ahLst/>
              <a:cxnLst/>
              <a:rect r="r" b="b" t="t" l="l"/>
              <a:pathLst>
                <a:path h="1438297" w="1468046">
                  <a:moveTo>
                    <a:pt x="0" y="0"/>
                  </a:moveTo>
                  <a:lnTo>
                    <a:pt x="1468046" y="0"/>
                  </a:lnTo>
                  <a:lnTo>
                    <a:pt x="1468046" y="1438297"/>
                  </a:lnTo>
                  <a:lnTo>
                    <a:pt x="0" y="14382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468046" cy="1409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028700"/>
            <a:ext cx="6569989" cy="8229600"/>
            <a:chOff x="0" y="0"/>
            <a:chExt cx="1673574" cy="2096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3574" cy="2096327"/>
            </a:xfrm>
            <a:custGeom>
              <a:avLst/>
              <a:gdLst/>
              <a:ahLst/>
              <a:cxnLst/>
              <a:rect r="r" b="b" t="t" l="l"/>
              <a:pathLst>
                <a:path h="2096327" w="1673574">
                  <a:moveTo>
                    <a:pt x="0" y="0"/>
                  </a:moveTo>
                  <a:lnTo>
                    <a:pt x="1673574" y="0"/>
                  </a:lnTo>
                  <a:lnTo>
                    <a:pt x="1673574" y="2096327"/>
                  </a:lnTo>
                  <a:lnTo>
                    <a:pt x="0" y="2096327"/>
                  </a:lnTo>
                  <a:close/>
                </a:path>
              </a:pathLst>
            </a:custGeom>
            <a:blipFill>
              <a:blip r:embed="rId3"/>
              <a:stretch>
                <a:fillRect l="-44004" t="0" r="-44004" b="0"/>
              </a:stretch>
            </a:blipFill>
            <a:ln w="1905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1153850" y="7571659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21353" y="-407050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1028700" y="731177"/>
            <a:ext cx="605291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8447493" y="1031840"/>
            <a:ext cx="7125056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true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Confguration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47493" y="2696621"/>
            <a:ext cx="7396298" cy="600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Import all required Libraries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Batch Size =32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Image Resolution 224 x 224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Seed = 123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Epoch = 20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TRAIN_DIR = 'train' 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TEST_DIR = 'test'` 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9657" y="8647984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21353" y="-407050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3923" y="4386934"/>
            <a:ext cx="7796037" cy="3576432"/>
          </a:xfrm>
          <a:custGeom>
            <a:avLst/>
            <a:gdLst/>
            <a:ahLst/>
            <a:cxnLst/>
            <a:rect r="r" b="b" t="t" l="l"/>
            <a:pathLst>
              <a:path h="3576432" w="7796037">
                <a:moveTo>
                  <a:pt x="0" y="0"/>
                </a:moveTo>
                <a:lnTo>
                  <a:pt x="7796037" y="0"/>
                </a:lnTo>
                <a:lnTo>
                  <a:pt x="7796037" y="3576432"/>
                </a:lnTo>
                <a:lnTo>
                  <a:pt x="0" y="3576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20200" y="709930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 b="true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(EDA)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3793" y="2859308"/>
            <a:ext cx="7396298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Image Distribution per Class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002287" y="4386934"/>
            <a:ext cx="8594677" cy="3576432"/>
          </a:xfrm>
          <a:custGeom>
            <a:avLst/>
            <a:gdLst/>
            <a:ahLst/>
            <a:cxnLst/>
            <a:rect r="r" b="b" t="t" l="l"/>
            <a:pathLst>
              <a:path h="3576432" w="8594677">
                <a:moveTo>
                  <a:pt x="0" y="0"/>
                </a:moveTo>
                <a:lnTo>
                  <a:pt x="8594677" y="0"/>
                </a:lnTo>
                <a:lnTo>
                  <a:pt x="8594677" y="3576432"/>
                </a:lnTo>
                <a:lnTo>
                  <a:pt x="0" y="35764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93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01476" y="2859308"/>
            <a:ext cx="7396298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Images Resolution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8539399"/>
            <a:ext cx="8636100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59 low resolution images converted to high resolution images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9378" y="8402239"/>
            <a:ext cx="5305127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1800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Th</a:t>
            </a: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e dataset is moderately balanced</a:t>
            </a:r>
          </a:p>
          <a:p>
            <a:pPr algn="l" marL="388620" indent="-194310" lvl="1">
              <a:lnSpc>
                <a:spcPts val="1800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N</a:t>
            </a: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ot a severe imbalance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77195" y="9496067"/>
            <a:ext cx="5008761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All images have same .jpg extension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01899" y="2176731"/>
            <a:ext cx="4055258" cy="3125623"/>
          </a:xfrm>
          <a:custGeom>
            <a:avLst/>
            <a:gdLst/>
            <a:ahLst/>
            <a:cxnLst/>
            <a:rect r="r" b="b" t="t" l="l"/>
            <a:pathLst>
              <a:path h="3125623" w="4055258">
                <a:moveTo>
                  <a:pt x="0" y="0"/>
                </a:moveTo>
                <a:lnTo>
                  <a:pt x="4055258" y="0"/>
                </a:lnTo>
                <a:lnTo>
                  <a:pt x="4055258" y="3125623"/>
                </a:lnTo>
                <a:lnTo>
                  <a:pt x="0" y="31256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95282" y="2176731"/>
            <a:ext cx="4626323" cy="3108437"/>
          </a:xfrm>
          <a:custGeom>
            <a:avLst/>
            <a:gdLst/>
            <a:ahLst/>
            <a:cxnLst/>
            <a:rect r="r" b="b" t="t" l="l"/>
            <a:pathLst>
              <a:path h="3108437" w="4626323">
                <a:moveTo>
                  <a:pt x="0" y="0"/>
                </a:moveTo>
                <a:lnTo>
                  <a:pt x="4626324" y="0"/>
                </a:lnTo>
                <a:lnTo>
                  <a:pt x="4626324" y="3108437"/>
                </a:lnTo>
                <a:lnTo>
                  <a:pt x="0" y="31084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1466" y="2176731"/>
            <a:ext cx="4019531" cy="3108437"/>
          </a:xfrm>
          <a:custGeom>
            <a:avLst/>
            <a:gdLst/>
            <a:ahLst/>
            <a:cxnLst/>
            <a:rect r="r" b="b" t="t" l="l"/>
            <a:pathLst>
              <a:path h="3108437" w="4019531">
                <a:moveTo>
                  <a:pt x="0" y="0"/>
                </a:moveTo>
                <a:lnTo>
                  <a:pt x="4019531" y="0"/>
                </a:lnTo>
                <a:lnTo>
                  <a:pt x="4019531" y="3108437"/>
                </a:lnTo>
                <a:lnTo>
                  <a:pt x="0" y="31084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50758" y="2176731"/>
            <a:ext cx="3986806" cy="3230015"/>
          </a:xfrm>
          <a:custGeom>
            <a:avLst/>
            <a:gdLst/>
            <a:ahLst/>
            <a:cxnLst/>
            <a:rect r="r" b="b" t="t" l="l"/>
            <a:pathLst>
              <a:path h="3230015" w="3986806">
                <a:moveTo>
                  <a:pt x="0" y="0"/>
                </a:moveTo>
                <a:lnTo>
                  <a:pt x="3986806" y="0"/>
                </a:lnTo>
                <a:lnTo>
                  <a:pt x="3986806" y="3230015"/>
                </a:lnTo>
                <a:lnTo>
                  <a:pt x="0" y="32300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8548" y="5692879"/>
            <a:ext cx="4016895" cy="4007121"/>
          </a:xfrm>
          <a:custGeom>
            <a:avLst/>
            <a:gdLst/>
            <a:ahLst/>
            <a:cxnLst/>
            <a:rect r="r" b="b" t="t" l="l"/>
            <a:pathLst>
              <a:path h="4007121" w="4016895">
                <a:moveTo>
                  <a:pt x="0" y="0"/>
                </a:moveTo>
                <a:lnTo>
                  <a:pt x="4016895" y="0"/>
                </a:lnTo>
                <a:lnTo>
                  <a:pt x="4016895" y="4007121"/>
                </a:lnTo>
                <a:lnTo>
                  <a:pt x="0" y="40071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15596" y="5659056"/>
            <a:ext cx="4959372" cy="3973298"/>
          </a:xfrm>
          <a:custGeom>
            <a:avLst/>
            <a:gdLst/>
            <a:ahLst/>
            <a:cxnLst/>
            <a:rect r="r" b="b" t="t" l="l"/>
            <a:pathLst>
              <a:path h="3973298" w="4959372">
                <a:moveTo>
                  <a:pt x="0" y="0"/>
                </a:moveTo>
                <a:lnTo>
                  <a:pt x="4959373" y="0"/>
                </a:lnTo>
                <a:lnTo>
                  <a:pt x="4959373" y="3973298"/>
                </a:lnTo>
                <a:lnTo>
                  <a:pt x="0" y="39732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371181" y="5659056"/>
            <a:ext cx="5013789" cy="4007121"/>
          </a:xfrm>
          <a:custGeom>
            <a:avLst/>
            <a:gdLst/>
            <a:ahLst/>
            <a:cxnLst/>
            <a:rect r="r" b="b" t="t" l="l"/>
            <a:pathLst>
              <a:path h="4007121" w="5013789">
                <a:moveTo>
                  <a:pt x="0" y="0"/>
                </a:moveTo>
                <a:lnTo>
                  <a:pt x="5013789" y="0"/>
                </a:lnTo>
                <a:lnTo>
                  <a:pt x="5013789" y="4007121"/>
                </a:lnTo>
                <a:lnTo>
                  <a:pt x="0" y="40071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96561" y="286385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true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(EDA)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45851" y="1115646"/>
            <a:ext cx="7396298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Sample images with class label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64117" y="2617584"/>
            <a:ext cx="9967304" cy="6640716"/>
          </a:xfrm>
          <a:custGeom>
            <a:avLst/>
            <a:gdLst/>
            <a:ahLst/>
            <a:cxnLst/>
            <a:rect r="r" b="b" t="t" l="l"/>
            <a:pathLst>
              <a:path h="6640716" w="9967304">
                <a:moveTo>
                  <a:pt x="0" y="0"/>
                </a:moveTo>
                <a:lnTo>
                  <a:pt x="9967305" y="0"/>
                </a:lnTo>
                <a:lnTo>
                  <a:pt x="9967305" y="6640716"/>
                </a:lnTo>
                <a:lnTo>
                  <a:pt x="0" y="66407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20200" y="286385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56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Augmentation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7061" y="4914900"/>
            <a:ext cx="5484813" cy="221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    layers.RandomFlip("horizontal"),</a:t>
            </a:r>
          </a:p>
          <a:p>
            <a:pPr algn="l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    layers.RandomRotation(0.1),</a:t>
            </a:r>
          </a:p>
          <a:p>
            <a:pPr algn="l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    layers.RandomZoom(0.1),</a:t>
            </a:r>
          </a:p>
          <a:p>
            <a:pPr algn="l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    layers.RandomTranslation(0.1, 0.1)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1725" y="3476402"/>
            <a:ext cx="5795119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 spc="179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Applied during training to prevent overfitting and generalization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667" y="1577340"/>
            <a:ext cx="6172200" cy="8229600"/>
          </a:xfrm>
          <a:custGeom>
            <a:avLst/>
            <a:gdLst/>
            <a:ahLst/>
            <a:cxnLst/>
            <a:rect r="r" b="b" t="t" l="l"/>
            <a:pathLst>
              <a:path h="8229600" w="6172200">
                <a:moveTo>
                  <a:pt x="0" y="0"/>
                </a:moveTo>
                <a:lnTo>
                  <a:pt x="6172200" y="0"/>
                </a:lnTo>
                <a:lnTo>
                  <a:pt x="61722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001" t="0" r="-1700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20200" y="286385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56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 CNN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0994" y="1731924"/>
            <a:ext cx="10636719" cy="736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Input Layer: Accepts resized images (224×224×3), normalized using Rescaling(1./255)</a:t>
            </a:r>
          </a:p>
          <a:p>
            <a:pPr algn="l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Convolutional Layers: 3 Conv2D layers with increasing filters (32 → 64 → 128) and ReLU activations</a:t>
            </a:r>
          </a:p>
          <a:p>
            <a:pPr algn="l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Pooling Layers: Each Conv2D is followed by MaxPooling2D to reduce spatial dimensions</a:t>
            </a:r>
          </a:p>
          <a:p>
            <a:pPr algn="l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Flattening Layer: Converts 3D feature maps to 1D for fully connected layers</a:t>
            </a:r>
          </a:p>
          <a:p>
            <a:pPr algn="l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Dense Layer: Fully connected layer with 128 units, ReLU activation, and L2 regularization</a:t>
            </a:r>
          </a:p>
          <a:p>
            <a:pPr algn="l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Dropout Layer: Dropout(0.6) applied to prevent overfitting</a:t>
            </a:r>
          </a:p>
          <a:p>
            <a:pPr algn="l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Output Layer: Dense layer with softmax activation to classify into 7 dinosaur species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9949" y="1580879"/>
            <a:ext cx="10113433" cy="5562388"/>
          </a:xfrm>
          <a:custGeom>
            <a:avLst/>
            <a:gdLst/>
            <a:ahLst/>
            <a:cxnLst/>
            <a:rect r="r" b="b" t="t" l="l"/>
            <a:pathLst>
              <a:path h="5562388" w="10113433">
                <a:moveTo>
                  <a:pt x="0" y="0"/>
                </a:moveTo>
                <a:lnTo>
                  <a:pt x="10113433" y="0"/>
                </a:lnTo>
                <a:lnTo>
                  <a:pt x="10113433" y="5562389"/>
                </a:lnTo>
                <a:lnTo>
                  <a:pt x="0" y="55623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49665" y="1580879"/>
            <a:ext cx="7177275" cy="5562388"/>
          </a:xfrm>
          <a:custGeom>
            <a:avLst/>
            <a:gdLst/>
            <a:ahLst/>
            <a:cxnLst/>
            <a:rect r="r" b="b" t="t" l="l"/>
            <a:pathLst>
              <a:path h="5562388" w="7177275">
                <a:moveTo>
                  <a:pt x="0" y="0"/>
                </a:moveTo>
                <a:lnTo>
                  <a:pt x="7177275" y="0"/>
                </a:lnTo>
                <a:lnTo>
                  <a:pt x="7177275" y="5562389"/>
                </a:lnTo>
                <a:lnTo>
                  <a:pt x="0" y="55623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0200" y="286385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56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 CNN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9949" y="7292156"/>
            <a:ext cx="10113433" cy="276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3168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Training Loss drops steadily — shows learning from training data.</a:t>
            </a:r>
          </a:p>
          <a:p>
            <a:pPr algn="l" marL="388620" indent="-194310" lvl="1">
              <a:lnSpc>
                <a:spcPts val="3168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Loss plateaued and increased slightly — poor generalization.</a:t>
            </a:r>
          </a:p>
          <a:p>
            <a:pPr algn="l" marL="388620" indent="-194310" lvl="1">
              <a:lnSpc>
                <a:spcPts val="3168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Training Accuracy reached ~70%.</a:t>
            </a:r>
          </a:p>
          <a:p>
            <a:pPr algn="l" marL="388620" indent="-194310" lvl="1">
              <a:lnSpc>
                <a:spcPts val="3168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Accuracy stuck around 36–37% → No improvement after initial epochs.</a:t>
            </a:r>
          </a:p>
          <a:p>
            <a:pPr algn="l" marL="388620" indent="-194310" lvl="1">
              <a:lnSpc>
                <a:spcPts val="3168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Overfitting Observed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11083" y="7292156"/>
            <a:ext cx="7215857" cy="236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3168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H</a:t>
            </a: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eavy confusion between: Parasaurolophus, Triceratops, Velociraptor</a:t>
            </a:r>
          </a:p>
          <a:p>
            <a:pPr algn="l" marL="388620" indent="-194310" lvl="1">
              <a:lnSpc>
                <a:spcPts val="3168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Trex class severely misclassified.</a:t>
            </a:r>
          </a:p>
          <a:p>
            <a:pPr algn="l" marL="388620" indent="-194310" lvl="1">
              <a:lnSpc>
                <a:spcPts val="3168"/>
              </a:lnSpc>
              <a:buFont typeface="Arial"/>
              <a:buChar char="•"/>
            </a:pPr>
            <a:r>
              <a:rPr lang="en-US" b="true" sz="1800" spc="17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Weak diagonal → Model fails to strongly recognize correct classes.</a:t>
            </a:r>
          </a:p>
          <a:p>
            <a:pPr algn="l">
              <a:lnSpc>
                <a:spcPts val="3168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3820" y="1497724"/>
            <a:ext cx="9514327" cy="8229600"/>
          </a:xfrm>
          <a:custGeom>
            <a:avLst/>
            <a:gdLst/>
            <a:ahLst/>
            <a:cxnLst/>
            <a:rect r="r" b="b" t="t" l="l"/>
            <a:pathLst>
              <a:path h="8229600" w="9514327">
                <a:moveTo>
                  <a:pt x="0" y="0"/>
                </a:moveTo>
                <a:lnTo>
                  <a:pt x="9514327" y="0"/>
                </a:lnTo>
                <a:lnTo>
                  <a:pt x="951432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385" t="0" r="-344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20200" y="286385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56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TRANSFER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99318" y="1988820"/>
            <a:ext cx="7396298" cy="752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 spc="240" b="true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List of pre-trained models used: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EfficientNetB0, B5, B7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MobileNetV2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DenseNet121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ResNet50</a:t>
            </a:r>
          </a:p>
          <a:p>
            <a:pPr algn="l">
              <a:lnSpc>
                <a:spcPts val="6000"/>
              </a:lnSpc>
            </a:pPr>
            <a:r>
              <a:rPr lang="en-US" sz="2400" spc="240" b="true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Advantages: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Pretrained on ImageNet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Faster convergence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CFDFF"/>
                </a:solidFill>
                <a:latin typeface="Gotham Bold"/>
                <a:ea typeface="Gotham Bold"/>
                <a:cs typeface="Gotham Bold"/>
                <a:sym typeface="Gotham Bold"/>
              </a:rPr>
              <a:t>Higher baseline performance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8550" y="2443218"/>
            <a:ext cx="9368433" cy="5838777"/>
          </a:xfrm>
          <a:custGeom>
            <a:avLst/>
            <a:gdLst/>
            <a:ahLst/>
            <a:cxnLst/>
            <a:rect r="r" b="b" t="t" l="l"/>
            <a:pathLst>
              <a:path h="5838777" w="9368433">
                <a:moveTo>
                  <a:pt x="0" y="0"/>
                </a:moveTo>
                <a:lnTo>
                  <a:pt x="9368433" y="0"/>
                </a:lnTo>
                <a:lnTo>
                  <a:pt x="9368433" y="5838777"/>
                </a:lnTo>
                <a:lnTo>
                  <a:pt x="0" y="58387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20200" y="286385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56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Phase 1 – Feature Extraction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26453" y="2457844"/>
            <a:ext cx="8087555" cy="600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Freeze base model weights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</a:t>
            </a: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rain classification head only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Function train_and_evaluate_model()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Function generate_kaggle_submission()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tf.keras.backend.clear_session()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Loop through the functions to for each model in our list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2409" y="1560636"/>
            <a:ext cx="11301259" cy="4661769"/>
          </a:xfrm>
          <a:custGeom>
            <a:avLst/>
            <a:gdLst/>
            <a:ahLst/>
            <a:cxnLst/>
            <a:rect r="r" b="b" t="t" l="l"/>
            <a:pathLst>
              <a:path h="4661769" w="11301259">
                <a:moveTo>
                  <a:pt x="0" y="0"/>
                </a:moveTo>
                <a:lnTo>
                  <a:pt x="11301259" y="0"/>
                </a:lnTo>
                <a:lnTo>
                  <a:pt x="11301259" y="4661770"/>
                </a:lnTo>
                <a:lnTo>
                  <a:pt x="0" y="46617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67020" y="1560636"/>
            <a:ext cx="5528596" cy="4661769"/>
          </a:xfrm>
          <a:custGeom>
            <a:avLst/>
            <a:gdLst/>
            <a:ahLst/>
            <a:cxnLst/>
            <a:rect r="r" b="b" t="t" l="l"/>
            <a:pathLst>
              <a:path h="4661769" w="5528596">
                <a:moveTo>
                  <a:pt x="0" y="0"/>
                </a:moveTo>
                <a:lnTo>
                  <a:pt x="5528596" y="0"/>
                </a:lnTo>
                <a:lnTo>
                  <a:pt x="5528596" y="4661770"/>
                </a:lnTo>
                <a:lnTo>
                  <a:pt x="0" y="46617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445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0200" y="286385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56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EfficientNetB0 – Results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2409" y="6309741"/>
            <a:ext cx="8655421" cy="349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1988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Loss Curves (Train vs. Validation):</a:t>
            </a:r>
          </a:p>
          <a:p>
            <a:pPr algn="l" marL="429295" indent="-214648" lvl="1">
              <a:lnSpc>
                <a:spcPts val="3499"/>
              </a:lnSpc>
              <a:buFont typeface="Arial"/>
              <a:buChar char="•"/>
            </a:pPr>
            <a:r>
              <a:rPr lang="en-US" b="true" sz="1988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</a:t>
            </a:r>
            <a:r>
              <a:rPr lang="en-US" b="true" sz="1988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onsistent decrease with smooth convergence</a:t>
            </a:r>
          </a:p>
          <a:p>
            <a:pPr algn="l" marL="429295" indent="-214648" lvl="1">
              <a:lnSpc>
                <a:spcPts val="3499"/>
              </a:lnSpc>
              <a:buFont typeface="Arial"/>
              <a:buChar char="•"/>
            </a:pPr>
            <a:r>
              <a:rPr lang="en-US" b="true" sz="1988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Minimal gap → well-generalized model</a:t>
            </a:r>
          </a:p>
          <a:p>
            <a:pPr algn="l" marL="429295" indent="-214648" lvl="1">
              <a:lnSpc>
                <a:spcPts val="3499"/>
              </a:lnSpc>
              <a:buFont typeface="Arial"/>
              <a:buChar char="•"/>
            </a:pPr>
            <a:r>
              <a:rPr lang="en-US" b="true" sz="1988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Final Validation Loss ≈ 0.36 (low)</a:t>
            </a:r>
          </a:p>
          <a:p>
            <a:pPr algn="l">
              <a:lnSpc>
                <a:spcPts val="3499"/>
              </a:lnSpc>
            </a:pPr>
            <a:r>
              <a:rPr lang="en-US" b="true" sz="1988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Accuracy Curves:</a:t>
            </a:r>
          </a:p>
          <a:p>
            <a:pPr algn="l" marL="429295" indent="-214648" lvl="1">
              <a:lnSpc>
                <a:spcPts val="3499"/>
              </a:lnSpc>
              <a:buFont typeface="Arial"/>
              <a:buChar char="•"/>
            </a:pPr>
            <a:r>
              <a:rPr lang="en-US" b="true" sz="1988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Training Accuracy ≈ 92%</a:t>
            </a:r>
          </a:p>
          <a:p>
            <a:pPr algn="l" marL="429295" indent="-214648" lvl="1">
              <a:lnSpc>
                <a:spcPts val="3499"/>
              </a:lnSpc>
              <a:buFont typeface="Arial"/>
              <a:buChar char="•"/>
            </a:pPr>
            <a:r>
              <a:rPr lang="en-US" b="true" sz="1988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Accuracy ≈ 87%</a:t>
            </a:r>
          </a:p>
          <a:p>
            <a:pPr algn="l">
              <a:lnSpc>
                <a:spcPts val="3499"/>
              </a:lnSpc>
            </a:pPr>
            <a:r>
              <a:rPr lang="en-US" b="true" sz="1988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Close performance → No signs of overfitting.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12497" y="6309741"/>
            <a:ext cx="6883119" cy="305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b="true" sz="1987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C</a:t>
            </a:r>
            <a:r>
              <a:rPr lang="en-US" b="true" sz="1987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onfusion Matrix Highlights:</a:t>
            </a:r>
          </a:p>
          <a:p>
            <a:pPr algn="l" marL="429009" indent="-214504" lvl="1">
              <a:lnSpc>
                <a:spcPts val="3497"/>
              </a:lnSpc>
              <a:buFont typeface="Arial"/>
              <a:buChar char="•"/>
            </a:pPr>
            <a:r>
              <a:rPr lang="en-US" b="true" sz="1987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Parasaurolophus: 13 correct predictions</a:t>
            </a:r>
          </a:p>
          <a:p>
            <a:pPr algn="l" marL="429009" indent="-214504" lvl="1">
              <a:lnSpc>
                <a:spcPts val="3497"/>
              </a:lnSpc>
              <a:buFont typeface="Arial"/>
              <a:buChar char="•"/>
            </a:pPr>
            <a:r>
              <a:rPr lang="en-US" b="true" sz="1987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Triceratops &amp; Velociraptor → strong performance</a:t>
            </a:r>
          </a:p>
          <a:p>
            <a:pPr algn="l" marL="429009" indent="-214504" lvl="1">
              <a:lnSpc>
                <a:spcPts val="3497"/>
              </a:lnSpc>
              <a:buFont typeface="Arial"/>
              <a:buChar char="•"/>
            </a:pPr>
            <a:r>
              <a:rPr lang="en-US" b="true" sz="1987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Mild confusion with Trex, Stegosaurus, Ankylosaurus, Diplodocus</a:t>
            </a:r>
          </a:p>
          <a:p>
            <a:pPr algn="l">
              <a:lnSpc>
                <a:spcPts val="3497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94874" y="1597666"/>
            <a:ext cx="5485166" cy="4820724"/>
          </a:xfrm>
          <a:custGeom>
            <a:avLst/>
            <a:gdLst/>
            <a:ahLst/>
            <a:cxnLst/>
            <a:rect r="r" b="b" t="t" l="l"/>
            <a:pathLst>
              <a:path h="4820724" w="5485166">
                <a:moveTo>
                  <a:pt x="0" y="0"/>
                </a:moveTo>
                <a:lnTo>
                  <a:pt x="5485165" y="0"/>
                </a:lnTo>
                <a:lnTo>
                  <a:pt x="5485165" y="4820724"/>
                </a:lnTo>
                <a:lnTo>
                  <a:pt x="0" y="4820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1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5434" y="1597666"/>
            <a:ext cx="11301259" cy="4820724"/>
          </a:xfrm>
          <a:custGeom>
            <a:avLst/>
            <a:gdLst/>
            <a:ahLst/>
            <a:cxnLst/>
            <a:rect r="r" b="b" t="t" l="l"/>
            <a:pathLst>
              <a:path h="4820724" w="11301259">
                <a:moveTo>
                  <a:pt x="0" y="0"/>
                </a:moveTo>
                <a:lnTo>
                  <a:pt x="11301259" y="0"/>
                </a:lnTo>
                <a:lnTo>
                  <a:pt x="11301259" y="4820724"/>
                </a:lnTo>
                <a:lnTo>
                  <a:pt x="0" y="482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04" t="0" r="-170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0200" y="286385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56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EfficientNetB5 – Results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2844" y="6543102"/>
            <a:ext cx="9146562" cy="3516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8"/>
              </a:lnSpc>
            </a:pPr>
            <a:r>
              <a:rPr lang="en-US" b="true" sz="1993" spc="199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Loss Curves (Train vs. Validation):</a:t>
            </a:r>
          </a:p>
          <a:p>
            <a:pPr algn="l" marL="430355" indent="-215178" lvl="1">
              <a:lnSpc>
                <a:spcPts val="3508"/>
              </a:lnSpc>
              <a:buFont typeface="Arial"/>
              <a:buChar char="•"/>
            </a:pPr>
            <a:r>
              <a:rPr lang="en-US" b="true" sz="1993" spc="1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Both curves steadily decrease and converge</a:t>
            </a:r>
          </a:p>
          <a:p>
            <a:pPr algn="l" marL="430355" indent="-215178" lvl="1">
              <a:lnSpc>
                <a:spcPts val="3508"/>
              </a:lnSpc>
              <a:buFont typeface="Arial"/>
              <a:buChar char="•"/>
            </a:pPr>
            <a:r>
              <a:rPr lang="en-US" b="true" sz="1993" spc="1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Final Validation Loss &lt; 0.38 → stable learning</a:t>
            </a:r>
          </a:p>
          <a:p>
            <a:pPr algn="l" marL="430355" indent="-215178" lvl="1">
              <a:lnSpc>
                <a:spcPts val="3508"/>
              </a:lnSpc>
              <a:buFont typeface="Arial"/>
              <a:buChar char="•"/>
            </a:pPr>
            <a:r>
              <a:rPr lang="en-US" b="true" sz="1993" spc="1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Smooth, closely aligned curves → strong generalization</a:t>
            </a:r>
          </a:p>
          <a:p>
            <a:pPr algn="l">
              <a:lnSpc>
                <a:spcPts val="3508"/>
              </a:lnSpc>
            </a:pPr>
            <a:r>
              <a:rPr lang="en-US" b="true" sz="1993" spc="199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Accuracy Curves:</a:t>
            </a:r>
          </a:p>
          <a:p>
            <a:pPr algn="l" marL="430355" indent="-215178" lvl="1">
              <a:lnSpc>
                <a:spcPts val="3508"/>
              </a:lnSpc>
              <a:buFont typeface="Arial"/>
              <a:buChar char="•"/>
            </a:pPr>
            <a:r>
              <a:rPr lang="en-US" b="true" sz="1993" spc="1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Training Accuracy ≈ 91%</a:t>
            </a:r>
          </a:p>
          <a:p>
            <a:pPr algn="l" marL="430355" indent="-215178" lvl="1">
              <a:lnSpc>
                <a:spcPts val="3508"/>
              </a:lnSpc>
              <a:buFont typeface="Arial"/>
              <a:buChar char="•"/>
            </a:pPr>
            <a:r>
              <a:rPr lang="en-US" b="true" sz="1993" spc="1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Accuracy ≈ 88.1–88.5%</a:t>
            </a:r>
          </a:p>
          <a:p>
            <a:pPr algn="l">
              <a:lnSpc>
                <a:spcPts val="3508"/>
              </a:lnSpc>
            </a:pPr>
            <a:r>
              <a:rPr lang="en-US" b="true" sz="1993" spc="199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Close performance → robust, well-generalized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5590" y="6543102"/>
            <a:ext cx="7174450" cy="303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1989" spc="198" b="true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Confusion Matrix Insights: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Parasaurolophus: 13 correct predictions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Triceratops, Diplodocus, Velociraptor → strong accuracy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Trex misclassified often; mild confusion with similar classes</a:t>
            </a:r>
          </a:p>
          <a:p>
            <a:pPr algn="l">
              <a:lnSpc>
                <a:spcPts val="3502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6373" y="1611935"/>
            <a:ext cx="11255269" cy="4661769"/>
          </a:xfrm>
          <a:custGeom>
            <a:avLst/>
            <a:gdLst/>
            <a:ahLst/>
            <a:cxnLst/>
            <a:rect r="r" b="b" t="t" l="l"/>
            <a:pathLst>
              <a:path h="4661769" w="11255269">
                <a:moveTo>
                  <a:pt x="0" y="0"/>
                </a:moveTo>
                <a:lnTo>
                  <a:pt x="11255269" y="0"/>
                </a:lnTo>
                <a:lnTo>
                  <a:pt x="11255269" y="4661769"/>
                </a:lnTo>
                <a:lnTo>
                  <a:pt x="0" y="466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40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08846" y="1611935"/>
            <a:ext cx="5350454" cy="4712652"/>
          </a:xfrm>
          <a:custGeom>
            <a:avLst/>
            <a:gdLst/>
            <a:ahLst/>
            <a:cxnLst/>
            <a:rect r="r" b="b" t="t" l="l"/>
            <a:pathLst>
              <a:path h="4712652" w="5350454">
                <a:moveTo>
                  <a:pt x="0" y="0"/>
                </a:moveTo>
                <a:lnTo>
                  <a:pt x="5350454" y="0"/>
                </a:lnTo>
                <a:lnTo>
                  <a:pt x="5350454" y="4712651"/>
                </a:lnTo>
                <a:lnTo>
                  <a:pt x="0" y="47126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0200" y="286385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56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EfficientNetB7 – Results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2844" y="6566747"/>
            <a:ext cx="9628696" cy="349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Loss Curves (Train vs. Validation):</a:t>
            </a:r>
          </a:p>
          <a:p>
            <a:pPr algn="l" marL="428569" indent="-214285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Signifi</a:t>
            </a: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cant decrease with smooth convergence</a:t>
            </a:r>
          </a:p>
          <a:p>
            <a:pPr algn="l" marL="428569" indent="-214285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Final Validation Loss ≈ 0.38 → stable learning</a:t>
            </a:r>
          </a:p>
          <a:p>
            <a:pPr algn="l" marL="428569" indent="-214285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Minimal gap → no overfitting</a:t>
            </a:r>
          </a:p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Accuracy Curves:</a:t>
            </a:r>
          </a:p>
          <a:p>
            <a:pPr algn="l" marL="428569" indent="-214285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Training Accuracy &gt; 91%</a:t>
            </a:r>
          </a:p>
          <a:p>
            <a:pPr algn="l" marL="428569" indent="-214285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Accuracy ≈ 88.5%</a:t>
            </a:r>
          </a:p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Parallel curves → consistent generalization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11083" y="6557222"/>
            <a:ext cx="7215857" cy="347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1989" spc="198" b="true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Confusion Matrix Insights: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St</a:t>
            </a: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rong predictions: Stegosaurus (12), Parasaurolophus (10), Diplodocus (8)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Confusion: Trex, Velociraptor, Triceratops show scattered predictions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Overall: Diagonal trend intact → consistent model confidence</a:t>
            </a:r>
          </a:p>
          <a:p>
            <a:pPr algn="l">
              <a:lnSpc>
                <a:spcPts val="3502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2844" y="1662817"/>
            <a:ext cx="11301259" cy="4661769"/>
          </a:xfrm>
          <a:custGeom>
            <a:avLst/>
            <a:gdLst/>
            <a:ahLst/>
            <a:cxnLst/>
            <a:rect r="r" b="b" t="t" l="l"/>
            <a:pathLst>
              <a:path h="4661769" w="11301259">
                <a:moveTo>
                  <a:pt x="0" y="0"/>
                </a:moveTo>
                <a:lnTo>
                  <a:pt x="11301259" y="0"/>
                </a:lnTo>
                <a:lnTo>
                  <a:pt x="11301259" y="4661769"/>
                </a:lnTo>
                <a:lnTo>
                  <a:pt x="0" y="466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64934" y="1662817"/>
            <a:ext cx="5292685" cy="4661769"/>
          </a:xfrm>
          <a:custGeom>
            <a:avLst/>
            <a:gdLst/>
            <a:ahLst/>
            <a:cxnLst/>
            <a:rect r="r" b="b" t="t" l="l"/>
            <a:pathLst>
              <a:path h="4661769" w="5292685">
                <a:moveTo>
                  <a:pt x="0" y="0"/>
                </a:moveTo>
                <a:lnTo>
                  <a:pt x="5292686" y="0"/>
                </a:lnTo>
                <a:lnTo>
                  <a:pt x="5292686" y="4661769"/>
                </a:lnTo>
                <a:lnTo>
                  <a:pt x="0" y="46617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0200" y="286385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56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ResNet50 – Results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2844" y="6566747"/>
            <a:ext cx="9628696" cy="303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Loss Curves (Train vs. Validation):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Traini</a:t>
            </a: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ng loss steadily decreases over 20 epochs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loss closely follows → strong generalization</a:t>
            </a:r>
          </a:p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Accuracy Curves: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Training Accuracy &gt; 92%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Accuracy ≈ 88.1%</a:t>
            </a:r>
          </a:p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Stable curves → no overfitting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11083" y="6557222"/>
            <a:ext cx="7215857" cy="303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1989" spc="198" b="true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Confusion Matrix Insights: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Mino</a:t>
            </a: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 confusion: Diplodocus vs. Parasaurolophus, Trex vs. Triceratops, Stegosaurus vs. Parasaurolophus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Most predictions on diagonal → high classification accuracy</a:t>
            </a:r>
          </a:p>
          <a:p>
            <a:pPr algn="l">
              <a:lnSpc>
                <a:spcPts val="3502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2844" y="1662817"/>
            <a:ext cx="11301259" cy="4661769"/>
          </a:xfrm>
          <a:custGeom>
            <a:avLst/>
            <a:gdLst/>
            <a:ahLst/>
            <a:cxnLst/>
            <a:rect r="r" b="b" t="t" l="l"/>
            <a:pathLst>
              <a:path h="4661769" w="11301259">
                <a:moveTo>
                  <a:pt x="0" y="0"/>
                </a:moveTo>
                <a:lnTo>
                  <a:pt x="11301259" y="0"/>
                </a:lnTo>
                <a:lnTo>
                  <a:pt x="11301259" y="4661769"/>
                </a:lnTo>
                <a:lnTo>
                  <a:pt x="0" y="466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67020" y="1662817"/>
            <a:ext cx="5292685" cy="4661769"/>
          </a:xfrm>
          <a:custGeom>
            <a:avLst/>
            <a:gdLst/>
            <a:ahLst/>
            <a:cxnLst/>
            <a:rect r="r" b="b" t="t" l="l"/>
            <a:pathLst>
              <a:path h="4661769" w="5292685">
                <a:moveTo>
                  <a:pt x="0" y="0"/>
                </a:moveTo>
                <a:lnTo>
                  <a:pt x="5292685" y="0"/>
                </a:lnTo>
                <a:lnTo>
                  <a:pt x="5292685" y="4661769"/>
                </a:lnTo>
                <a:lnTo>
                  <a:pt x="0" y="46617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0200" y="286385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56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MobileNetV2 – Results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2844" y="6566747"/>
            <a:ext cx="9628696" cy="390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Loss Curves (Train vs. Validation):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</a:t>
            </a: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teady decrease with closely tracking curves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Final loss stabilizes → convergence without overfitting</a:t>
            </a:r>
          </a:p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Accuracy Curves: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Training Accuracy ≈ 90%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Accuracy ≈ 85–86%</a:t>
            </a:r>
          </a:p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Training and validation accuracies track closely throughout</a:t>
            </a:r>
          </a:p>
          <a:p>
            <a:pPr algn="l">
              <a:lnSpc>
                <a:spcPts val="3493"/>
              </a:lnSpc>
            </a:pPr>
          </a:p>
          <a:p>
            <a:pPr algn="l">
              <a:lnSpc>
                <a:spcPts val="349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811083" y="6557222"/>
            <a:ext cx="7215857" cy="347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1989" spc="198" b="true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Confusion Matrix Insights: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St</a:t>
            </a: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rong predictions: Parasaurolophus, Stegosaurus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Confusion: Ankylosaurus ↔ Diplodocus; Velociraptor vs. others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Overall diagonal dominance → generally accurate classifications</a:t>
            </a:r>
          </a:p>
          <a:p>
            <a:pPr algn="l">
              <a:lnSpc>
                <a:spcPts val="3502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2844" y="1662817"/>
            <a:ext cx="11301259" cy="4661769"/>
          </a:xfrm>
          <a:custGeom>
            <a:avLst/>
            <a:gdLst/>
            <a:ahLst/>
            <a:cxnLst/>
            <a:rect r="r" b="b" t="t" l="l"/>
            <a:pathLst>
              <a:path h="4661769" w="11301259">
                <a:moveTo>
                  <a:pt x="0" y="0"/>
                </a:moveTo>
                <a:lnTo>
                  <a:pt x="11301259" y="0"/>
                </a:lnTo>
                <a:lnTo>
                  <a:pt x="11301259" y="4661769"/>
                </a:lnTo>
                <a:lnTo>
                  <a:pt x="0" y="466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86583" y="1662817"/>
            <a:ext cx="5292685" cy="4661769"/>
          </a:xfrm>
          <a:custGeom>
            <a:avLst/>
            <a:gdLst/>
            <a:ahLst/>
            <a:cxnLst/>
            <a:rect r="r" b="b" t="t" l="l"/>
            <a:pathLst>
              <a:path h="4661769" w="5292685">
                <a:moveTo>
                  <a:pt x="0" y="0"/>
                </a:moveTo>
                <a:lnTo>
                  <a:pt x="5292686" y="0"/>
                </a:lnTo>
                <a:lnTo>
                  <a:pt x="5292686" y="4661769"/>
                </a:lnTo>
                <a:lnTo>
                  <a:pt x="0" y="46617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0200" y="286385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56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DenseNet121 – Results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2844" y="6566747"/>
            <a:ext cx="9628696" cy="303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Loss Curves (Train vs. Validation):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Bo</a:t>
            </a: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th losses decrease steadily and converge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Smooth curves → no overfitting or underfitting</a:t>
            </a:r>
          </a:p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Accuracy Curves: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Training Accuracy ≈ 85.4%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Accuracy ≈ 87.6%</a:t>
            </a:r>
          </a:p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Noticeable gap → moderate overfitting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11083" y="6557222"/>
            <a:ext cx="7215857" cy="303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1989" spc="198" b="true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Confusion Matrix Insights: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Mi</a:t>
            </a: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nor confusion: Ankylosaurus ↔ Parasaurolophus, Diplodocus ↔ Triceratops, Trex scattered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Strong diagonal dominance → most samples correctly classified</a:t>
            </a:r>
          </a:p>
          <a:p>
            <a:pPr algn="l">
              <a:lnSpc>
                <a:spcPts val="3502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1117" y="3488405"/>
            <a:ext cx="7198988" cy="4796326"/>
          </a:xfrm>
          <a:custGeom>
            <a:avLst/>
            <a:gdLst/>
            <a:ahLst/>
            <a:cxnLst/>
            <a:rect r="r" b="b" t="t" l="l"/>
            <a:pathLst>
              <a:path h="4796326" w="7198988">
                <a:moveTo>
                  <a:pt x="0" y="0"/>
                </a:moveTo>
                <a:lnTo>
                  <a:pt x="7198988" y="0"/>
                </a:lnTo>
                <a:lnTo>
                  <a:pt x="7198988" y="4796326"/>
                </a:lnTo>
                <a:lnTo>
                  <a:pt x="0" y="47963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20200" y="286385"/>
            <a:ext cx="13447600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56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Phase 2 – Fine-Tuning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87737" y="1588888"/>
            <a:ext cx="10047859" cy="829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Enable fine‑tuning (fine_tune=True, fine_tune_at=100)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Unf</a:t>
            </a: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reeze top base layers (freeze first 100 layers)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</a:t>
            </a: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rain both classification head and unfrozen base layers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Function train_and_evaluate_model()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Function generate_kaggle_submission() → outputs *_finetuned.csv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tf.keras.backend.clear_session()</a:t>
            </a:r>
          </a:p>
          <a:p>
            <a:pPr algn="l" marL="518160" indent="-259080" lvl="1">
              <a:lnSpc>
                <a:spcPts val="6000"/>
              </a:lnSpc>
              <a:buFont typeface="Arial"/>
              <a:buChar char="•"/>
            </a:pPr>
            <a:r>
              <a:rPr lang="en-US" b="true" sz="2400" spc="24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Loop through each model in models_to_test for fine‑tuning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2844" y="1611935"/>
            <a:ext cx="11301259" cy="4661769"/>
          </a:xfrm>
          <a:custGeom>
            <a:avLst/>
            <a:gdLst/>
            <a:ahLst/>
            <a:cxnLst/>
            <a:rect r="r" b="b" t="t" l="l"/>
            <a:pathLst>
              <a:path h="4661769" w="11301259">
                <a:moveTo>
                  <a:pt x="0" y="0"/>
                </a:moveTo>
                <a:lnTo>
                  <a:pt x="11301259" y="0"/>
                </a:lnTo>
                <a:lnTo>
                  <a:pt x="11301259" y="4661769"/>
                </a:lnTo>
                <a:lnTo>
                  <a:pt x="0" y="466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51479" y="1611935"/>
            <a:ext cx="5292685" cy="4661769"/>
          </a:xfrm>
          <a:custGeom>
            <a:avLst/>
            <a:gdLst/>
            <a:ahLst/>
            <a:cxnLst/>
            <a:rect r="r" b="b" t="t" l="l"/>
            <a:pathLst>
              <a:path h="4661769" w="5292685">
                <a:moveTo>
                  <a:pt x="0" y="0"/>
                </a:moveTo>
                <a:lnTo>
                  <a:pt x="5292685" y="0"/>
                </a:lnTo>
                <a:lnTo>
                  <a:pt x="5292685" y="4661769"/>
                </a:lnTo>
                <a:lnTo>
                  <a:pt x="0" y="46617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0200" y="464819"/>
            <a:ext cx="13447600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Fine‑Tuned EfficientNetB0 – Results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2844" y="6566747"/>
            <a:ext cx="9628696" cy="346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Loss Curves (Train vs. Validation):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Training</a:t>
            </a: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loss drops near zero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loss decreases then fluctuates → slight overfitting</a:t>
            </a:r>
          </a:p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Accuracy Curves: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Training Accuracy ≈ 99%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Accuracy ≈ 92%</a:t>
            </a:r>
          </a:p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Noticeable gap → moderate overfitting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99664" y="6557222"/>
            <a:ext cx="8627276" cy="435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1989" spc="198" b="true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Confusion Matrix Insights: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St</a:t>
            </a: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rong diagonal across most classes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Remaining confusion: Triceratops ↔ Stegosaurus; Velociraptor ↔ Parasaurolophus; Trex ↔ Diplodocus</a:t>
            </a:r>
          </a:p>
          <a:p>
            <a:pPr algn="l">
              <a:lnSpc>
                <a:spcPts val="3502"/>
              </a:lnSpc>
            </a:pPr>
            <a:r>
              <a:rPr lang="en-US" b="true" sz="1989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Overall Performance: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Fine-tuning boosts accuracy over baseline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Consider additional regularization or less aggressive tuning to improve generalization</a:t>
            </a:r>
          </a:p>
          <a:p>
            <a:pPr algn="l">
              <a:lnSpc>
                <a:spcPts val="3502"/>
              </a:lnSpc>
            </a:pPr>
          </a:p>
          <a:p>
            <a:pPr algn="l">
              <a:lnSpc>
                <a:spcPts val="3502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2844" y="1611935"/>
            <a:ext cx="11301259" cy="4661769"/>
          </a:xfrm>
          <a:custGeom>
            <a:avLst/>
            <a:gdLst/>
            <a:ahLst/>
            <a:cxnLst/>
            <a:rect r="r" b="b" t="t" l="l"/>
            <a:pathLst>
              <a:path h="4661769" w="11301259">
                <a:moveTo>
                  <a:pt x="0" y="0"/>
                </a:moveTo>
                <a:lnTo>
                  <a:pt x="11301259" y="0"/>
                </a:lnTo>
                <a:lnTo>
                  <a:pt x="11301259" y="4661769"/>
                </a:lnTo>
                <a:lnTo>
                  <a:pt x="0" y="466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10276" y="1611935"/>
            <a:ext cx="5292685" cy="4661769"/>
          </a:xfrm>
          <a:custGeom>
            <a:avLst/>
            <a:gdLst/>
            <a:ahLst/>
            <a:cxnLst/>
            <a:rect r="r" b="b" t="t" l="l"/>
            <a:pathLst>
              <a:path h="4661769" w="5292685">
                <a:moveTo>
                  <a:pt x="0" y="0"/>
                </a:moveTo>
                <a:lnTo>
                  <a:pt x="5292686" y="0"/>
                </a:lnTo>
                <a:lnTo>
                  <a:pt x="5292686" y="4661769"/>
                </a:lnTo>
                <a:lnTo>
                  <a:pt x="0" y="46617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0200" y="464819"/>
            <a:ext cx="13447600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Fine‑Tuned EfficientNetB0 – Results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2844" y="6566747"/>
            <a:ext cx="9026267" cy="390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Loss Curves (Train vs. Validation):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Smooth, continuous training</a:t>
            </a: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loss decline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loss fluctuates early then stabilizes and decreases.</a:t>
            </a:r>
          </a:p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Accuracy Curves: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Training Accuracy ≈ 99%</a:t>
            </a:r>
          </a:p>
          <a:p>
            <a:pPr algn="l" marL="428569" indent="-214284" lvl="1">
              <a:lnSpc>
                <a:spcPts val="3493"/>
              </a:lnSpc>
              <a:buFont typeface="Arial"/>
              <a:buChar char="•"/>
            </a:pPr>
            <a:r>
              <a:rPr lang="en-US" b="true" sz="1985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Validation Accuracy ≈ 92%</a:t>
            </a:r>
          </a:p>
          <a:p>
            <a:pPr algn="l">
              <a:lnSpc>
                <a:spcPts val="3493"/>
              </a:lnSpc>
            </a:pPr>
            <a:r>
              <a:rPr lang="en-US" b="true" sz="1985" spc="198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Curves track closely → no overfitting</a:t>
            </a:r>
          </a:p>
          <a:p>
            <a:pPr algn="l">
              <a:lnSpc>
                <a:spcPts val="349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659784" y="6557222"/>
            <a:ext cx="7035832" cy="347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1989" spc="198" b="true">
                <a:solidFill>
                  <a:srgbClr val="F5DEA0"/>
                </a:solidFill>
                <a:latin typeface="Gotham Bold"/>
                <a:ea typeface="Gotham Bold"/>
                <a:cs typeface="Gotham Bold"/>
                <a:sym typeface="Gotham Bold"/>
              </a:rPr>
              <a:t>Confusion Matrix Insights: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St</a:t>
            </a: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rong classification across all classes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Parasaurolophus: 10 correct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Triceratops &amp; Velociraptor also high </a:t>
            </a:r>
          </a:p>
          <a:p>
            <a:pPr algn="l" marL="429640" indent="-214820" lvl="1">
              <a:lnSpc>
                <a:spcPts val="3502"/>
              </a:lnSpc>
              <a:buFont typeface="Arial"/>
              <a:buChar char="•"/>
            </a:pPr>
            <a:r>
              <a:rPr lang="en-US" b="true" sz="1989" spc="19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Minor, evenly distributed off‑diagonal errors.</a:t>
            </a:r>
          </a:p>
          <a:p>
            <a:pPr algn="l">
              <a:lnSpc>
                <a:spcPts val="3502"/>
              </a:lnSpc>
            </a:pPr>
          </a:p>
          <a:p>
            <a:pPr algn="l">
              <a:lnSpc>
                <a:spcPts val="3502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24900"/>
            <a:ext cx="1763450" cy="1639016"/>
          </a:xfrm>
          <a:custGeom>
            <a:avLst/>
            <a:gdLst/>
            <a:ahLst/>
            <a:cxnLst/>
            <a:rect r="r" b="b" t="t" l="l"/>
            <a:pathLst>
              <a:path h="1639016" w="1763450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3080" r="-2279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945" y="-1152505"/>
            <a:ext cx="2165341" cy="2181205"/>
          </a:xfrm>
          <a:custGeom>
            <a:avLst/>
            <a:gdLst/>
            <a:ahLst/>
            <a:cxnLst/>
            <a:rect r="r" b="b" t="t" l="l"/>
            <a:pathLst>
              <a:path h="2181205" w="2165341">
                <a:moveTo>
                  <a:pt x="0" y="0"/>
                </a:moveTo>
                <a:lnTo>
                  <a:pt x="2165342" y="0"/>
                </a:lnTo>
                <a:lnTo>
                  <a:pt x="2165342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0200" y="1733475"/>
            <a:ext cx="14346663" cy="5953865"/>
          </a:xfrm>
          <a:custGeom>
            <a:avLst/>
            <a:gdLst/>
            <a:ahLst/>
            <a:cxnLst/>
            <a:rect r="r" b="b" t="t" l="l"/>
            <a:pathLst>
              <a:path h="5953865" w="14346663">
                <a:moveTo>
                  <a:pt x="0" y="0"/>
                </a:moveTo>
                <a:lnTo>
                  <a:pt x="14346664" y="0"/>
                </a:lnTo>
                <a:lnTo>
                  <a:pt x="14346664" y="5953865"/>
                </a:lnTo>
                <a:lnTo>
                  <a:pt x="0" y="5953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20200" y="8392115"/>
            <a:ext cx="14346663" cy="1327066"/>
          </a:xfrm>
          <a:custGeom>
            <a:avLst/>
            <a:gdLst/>
            <a:ahLst/>
            <a:cxnLst/>
            <a:rect r="r" b="b" t="t" l="l"/>
            <a:pathLst>
              <a:path h="1327066" w="14346663">
                <a:moveTo>
                  <a:pt x="0" y="0"/>
                </a:moveTo>
                <a:lnTo>
                  <a:pt x="14346664" y="0"/>
                </a:lnTo>
                <a:lnTo>
                  <a:pt x="14346664" y="1327066"/>
                </a:lnTo>
                <a:lnTo>
                  <a:pt x="0" y="13270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0200" y="464819"/>
            <a:ext cx="13447600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F5DE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Kaggel Submission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58064" y="1028700"/>
            <a:ext cx="802472" cy="670490"/>
          </a:xfrm>
          <a:custGeom>
            <a:avLst/>
            <a:gdLst/>
            <a:ahLst/>
            <a:cxnLst/>
            <a:rect r="r" b="b" t="t" l="l"/>
            <a:pathLst>
              <a:path h="670490" w="802472">
                <a:moveTo>
                  <a:pt x="0" y="0"/>
                </a:moveTo>
                <a:lnTo>
                  <a:pt x="802472" y="0"/>
                </a:lnTo>
                <a:lnTo>
                  <a:pt x="802472" y="670490"/>
                </a:lnTo>
                <a:lnTo>
                  <a:pt x="0" y="6704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9703" t="0" r="-60130" b="-22531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7464" y="1028700"/>
            <a:ext cx="802472" cy="670490"/>
          </a:xfrm>
          <a:custGeom>
            <a:avLst/>
            <a:gdLst/>
            <a:ahLst/>
            <a:cxnLst/>
            <a:rect r="r" b="b" t="t" l="l"/>
            <a:pathLst>
              <a:path h="670490" w="802472">
                <a:moveTo>
                  <a:pt x="0" y="0"/>
                </a:moveTo>
                <a:lnTo>
                  <a:pt x="802472" y="0"/>
                </a:lnTo>
                <a:lnTo>
                  <a:pt x="802472" y="670490"/>
                </a:lnTo>
                <a:lnTo>
                  <a:pt x="0" y="6704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9703" t="0" r="-60130" b="-22531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63986" y="3974629"/>
            <a:ext cx="5105956" cy="188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292"/>
              </a:lnSpc>
            </a:pPr>
            <a:r>
              <a:rPr lang="en-US" sz="12292" b="true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Thank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50383" y="3974629"/>
            <a:ext cx="3273632" cy="188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292"/>
              </a:lnSpc>
            </a:pPr>
            <a:r>
              <a:rPr lang="en-US" b="true" sz="12292" strike="noStrike" u="none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08637" y="5891652"/>
            <a:ext cx="9470726" cy="41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3073" spc="307">
                <a:solidFill>
                  <a:srgbClr val="F5DEA0"/>
                </a:solidFill>
                <a:latin typeface="Gotham"/>
                <a:ea typeface="Gotham"/>
                <a:cs typeface="Gotham"/>
                <a:sym typeface="Gotham"/>
              </a:rPr>
              <a:t>For All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DAGnmLV8DWc</dc:identifier>
  <dcterms:modified xsi:type="dcterms:W3CDTF">2011-08-01T06:04:30Z</dcterms:modified>
  <cp:revision>1</cp:revision>
  <dc:title>dino dl challenge</dc:title>
</cp:coreProperties>
</file>